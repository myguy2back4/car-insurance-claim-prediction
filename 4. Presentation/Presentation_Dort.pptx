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56" r:id="rId5"/>
    <p:sldId id="257" r:id="rId6"/>
    <p:sldId id="258" r:id="rId7"/>
    <p:sldId id="259" r:id="rId8"/>
    <p:sldId id="262" r:id="rId9"/>
    <p:sldId id="260" r:id="rId10"/>
    <p:sldId id="263" r:id="rId11"/>
    <p:sldId id="261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44D95C-0B53-42CD-92FC-01DDEB1EBBC2}" v="36" dt="2025-04-24T06:13:35.3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817949-8CB3-4A4E-88D3-40D2D31953A8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DBDEE4-FD3D-4329-B0B4-A8334F454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123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Ensemble methods helped capture complex non-linear interactions.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DBDEE4-FD3D-4329-B0B4-A8334F45443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369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036C0-6FAD-4065-8112-456853AD6B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FCC4DA-C8AB-52D2-66B4-C7CC61B9CE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F2D50-2181-40B9-F8DF-7F919C737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59E33-0D9A-4E95-94CD-2020A1FEC94B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85779-CCF6-065C-885F-D2EC8BA6E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B2CF9-9888-6B96-2F56-C17190AB3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72B59-1545-4152-8E45-0EC4062F8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469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FCD80-9870-1A89-E1CA-B059216C2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AFFA3-DB83-915A-843B-65D9B7505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7FB21-5BF6-286D-4885-1A03A105A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59E33-0D9A-4E95-94CD-2020A1FEC94B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06996-355D-5BE9-43CD-3C8F5356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163DC-EEEC-7D38-0F6D-430474F66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72B59-1545-4152-8E45-0EC4062F8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952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6955F-4B90-5243-0845-C6F090A7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4FB33-6793-8C28-60BE-502E4F4031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CE7A2-0146-AAA0-34A2-0B3893DC5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59E33-0D9A-4E95-94CD-2020A1FEC94B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20BA8-1C69-94E0-7DA3-A0A6CF692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D19BF-1331-8201-B4FA-53501C748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72B59-1545-4152-8E45-0EC4062F8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485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17827-6CB0-5B11-6A92-A39DE193A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59244-0FAB-53F2-6049-4894264292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865109-687A-7F1A-4ACA-36AB2173A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4F294A-047C-CD6F-8BE5-7C08D5CCC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59E33-0D9A-4E95-94CD-2020A1FEC94B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7B6D77-C4EA-4ABC-9674-C73A63225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9C170C-B813-D2FA-8A03-B18820CE3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72B59-1545-4152-8E45-0EC4062F8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404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870EC-DD44-A8C4-9619-89AD11E75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956821-AC48-1C9E-5DF0-70ECA49BC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6F5FFC-DAEB-E9A9-80D1-569D7FF7A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8C1E56-32AF-DC8F-6197-C96E100E5E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11AB50-40B2-7B6A-D4EB-28722922FA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09C334-FE85-481E-944D-6CA41C670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59E33-0D9A-4E95-94CD-2020A1FEC94B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3412DB-B025-E022-15FA-D3F63C358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DF223E-8B4C-2AB5-77F8-5F0F57916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72B59-1545-4152-8E45-0EC4062F8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336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60F3E-CAC3-1DF7-42AF-1E82F6AE3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70B876-E13C-3C9A-CA15-03FDE98CE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59E33-0D9A-4E95-94CD-2020A1FEC94B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6C1E4B-8267-5B5A-8A8B-2338AF802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96E2B6-FB0E-3A04-DDFF-1B85B35A6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72B59-1545-4152-8E45-0EC4062F8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685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66DB95-20AD-07C8-9A9B-8B0ECB7B2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59E33-0D9A-4E95-94CD-2020A1FEC94B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A81616-1CE6-0142-B87F-ACDBFB584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89134-7D82-408C-9ED7-328542798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72B59-1545-4152-8E45-0EC4062F8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80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0AC00-6689-7088-E3F9-3A0713B14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0119B-AF0B-5C1B-F6C1-3C157C7FF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07E784-CED7-F7EC-A65B-EB2D44BA7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27422E-5A6E-A593-6893-A110CF690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59E33-0D9A-4E95-94CD-2020A1FEC94B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BCC28E-EECD-6B76-C9DD-263F9EB97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4EB666-A81D-D349-FC9D-B257ECBD9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72B59-1545-4152-8E45-0EC4062F8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689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49A68-82A4-A307-6260-528B6E09F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7A782B-F08D-F430-15CF-B3BA4BC3B9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CE2CCE-E7C5-8102-F860-91EC7557B7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3A7AE-B6E3-9780-5931-5F2DDF16D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59E33-0D9A-4E95-94CD-2020A1FEC94B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F65578-721F-E03A-5607-7D5BC3754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0AB880-1A50-C43A-264B-8BA774EA6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72B59-1545-4152-8E45-0EC4062F8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860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E3ED7-79D7-9BEC-EDD3-05BF820D5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F9970A-AF5F-E5C8-CA34-31967F9A2E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2BB39-C58F-B378-4C43-268EB92CC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59E33-0D9A-4E95-94CD-2020A1FEC94B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4AC53-1115-4E4B-3294-21DA01044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50200-1048-6844-40E5-9560BEC50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72B59-1545-4152-8E45-0EC4062F8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575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6814D6-8769-E1B6-8169-F612BDAF9C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9E1678-0CBB-2D97-5311-3D2C952319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D9BBD-BCA5-2FE8-2B22-14341957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59E33-0D9A-4E95-94CD-2020A1FEC94B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C2CDF-75C3-C261-125A-76272A380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29B06-FF80-4B2B-93AD-B859EEBD5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72B59-1545-4152-8E45-0EC4062F8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601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73A1C4-AE57-4FC4-56EC-1C6955A6E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5ACF07-0D8B-B8C7-B042-58215D350C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626D3-FB07-1DEA-B0AA-4F8EFECDA0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859E33-0D9A-4E95-94CD-2020A1FEC94B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C82D0-723B-354F-FF3A-0A328E4614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A3C8C-5F17-86AB-F5BF-362012F5BA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C72B59-1545-4152-8E45-0EC4062F8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004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6F55A0-54B7-DC17-F818-232C9E5ECA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0338" y="640080"/>
            <a:ext cx="3734014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5400">
                <a:latin typeface="Times New Roman" panose="02020603050405020304" pitchFamily="18" charset="0"/>
                <a:cs typeface="Times New Roman" panose="02020603050405020304" pitchFamily="18" charset="0"/>
              </a:rPr>
              <a:t>Insurance Claim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BE08B-69CE-5CB0-8709-144583BEA8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0339" y="4636008"/>
            <a:ext cx="3734014" cy="1572768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Wenslo Dort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78CF02-108B-6BB9-8A5F-1D0E4C180A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54" r="19619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65314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EFE4F-EC90-47D7-1AED-0B25EBB050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2" y="639193"/>
            <a:ext cx="3571810" cy="3573516"/>
          </a:xfrm>
        </p:spPr>
        <p:txBody>
          <a:bodyPr>
            <a:normAutofit/>
          </a:bodyPr>
          <a:lstStyle/>
          <a:p>
            <a:pPr algn="l"/>
            <a:r>
              <a:rPr lang="en-US" sz="660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500965-290A-77D9-9B9A-8B1CB3C6F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82" y="4631161"/>
            <a:ext cx="3571810" cy="1559327"/>
          </a:xfrm>
        </p:spPr>
        <p:txBody>
          <a:bodyPr>
            <a:normAutofit/>
          </a:bodyPr>
          <a:lstStyle/>
          <a:p>
            <a:pPr algn="l"/>
            <a:r>
              <a:rPr lang="en-US" sz="1700"/>
              <a:t>My primary goal was to uncover which features most influence whether a policyholder will file a claim. I wanted to delve into the data and identify key drivers behind claim behavior</a:t>
            </a:r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 descr="Bullseye">
            <a:extLst>
              <a:ext uri="{FF2B5EF4-FFF2-40B4-BE49-F238E27FC236}">
                <a16:creationId xmlns:a16="http://schemas.microsoft.com/office/drawing/2014/main" id="{AF0FC4CD-BC6D-7D4D-7600-F576B0144C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6400" y="640080"/>
            <a:ext cx="5550408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892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8C9C93-3B1C-9C61-0650-3F0AE9292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5DF700-8ABB-AF49-D1CA-30CC4D6799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1074" y="1396686"/>
            <a:ext cx="3240506" cy="40646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Problem &amp; Data Overview</a:t>
            </a:r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71380B-6950-7B19-731A-E6681EA38A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70153" y="1526033"/>
            <a:ext cx="5536397" cy="3935281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/>
              <a:t>Problem Statement: Predict whether a policyholder will file a claim in the next six months.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/>
              <a:t>Data Snapshot: 58,592 observations, 44 variables (policy, vehicle, and geographic features).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/>
              <a:t>Clean dataset with no missing values.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/>
              <a:t>Challenge: Imbalanced data (only ~6% of policyholders filed a claim)</a:t>
            </a:r>
          </a:p>
        </p:txBody>
      </p:sp>
    </p:spTree>
    <p:extLst>
      <p:ext uri="{BB962C8B-B14F-4D97-AF65-F5344CB8AC3E}">
        <p14:creationId xmlns:p14="http://schemas.microsoft.com/office/powerpoint/2010/main" val="187476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D19511-60B5-8A85-7BC8-BD5D7AA02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0550F5B9-399F-4FAD-AE6C-ED65F9A43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C062E60F-5CD4-4268-8359-807663468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288350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CBBB62-EC09-0777-496B-3268FE89E6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510047"/>
            <a:ext cx="3300984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800" dirty="0"/>
              <a:t>EDA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B341EC3-1810-4D33-BA3F-E2D0AA0E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980964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0127CDE-2B99-47A8-BB3C-7D1751910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10864" y="1323863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C6566D-7012-2D03-B9D1-CAF44BC84B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81144" y="510047"/>
            <a:ext cx="6858000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1500" b="1" dirty="0"/>
              <a:t>Major Findings</a:t>
            </a:r>
            <a:r>
              <a:rPr lang="en-US" sz="1500" dirty="0"/>
              <a:t>: Policy tenure is bimodal (new vs. long-term customers).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1500" dirty="0"/>
              <a:t>Most vehicles are compact/subcompact—with typical safety and engine features.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1500" dirty="0"/>
              <a:t>Safety features such as airbags and NCAP ratings, along with population density, provide important clues even if single predictors show a weak linear correlation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endParaRPr lang="en-US" sz="15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1F53B5-6D69-858C-658A-C97C04F77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3252211"/>
            <a:ext cx="3584448" cy="23478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EA0E06-3FE3-5B19-21E7-5C59487A1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599" y="3288056"/>
            <a:ext cx="3584448" cy="22761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6CF38B2-594C-F4DA-945E-56DD62F9E4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7415" y="3295682"/>
            <a:ext cx="3584448" cy="2260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884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EB3100-80F3-2CFD-2B42-8FAEEC9A1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747E0E-99BA-5161-FA3D-208E9CEE4A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EDA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E389E7-887C-B9F8-AE84-26EC757671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1200" b="1" dirty="0"/>
              <a:t>Some numerical variables:</a:t>
            </a:r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sz="1200" b="1" dirty="0" err="1"/>
              <a:t>age_of_car</a:t>
            </a:r>
            <a:endParaRPr lang="en-US" sz="1200" b="1" dirty="0"/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sz="1200" b="1" dirty="0" err="1"/>
              <a:t>policy_tenure</a:t>
            </a:r>
            <a:endParaRPr lang="en-US" sz="1200" b="1" dirty="0"/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sz="1200" b="1" dirty="0" err="1"/>
              <a:t>population_density</a:t>
            </a:r>
            <a:r>
              <a:rPr lang="en-US" sz="1200" b="1" dirty="0"/>
              <a:t> </a:t>
            </a:r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sz="1200" b="1" dirty="0"/>
              <a:t>Displacement</a:t>
            </a:r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sz="1200" b="1" dirty="0"/>
              <a:t>Cylinder</a:t>
            </a:r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sz="1200" b="1" dirty="0"/>
              <a:t>Airbags </a:t>
            </a:r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sz="1200" b="1" dirty="0" err="1"/>
              <a:t>ncap_rating</a:t>
            </a:r>
            <a:r>
              <a:rPr lang="en-US" sz="1200" b="1" dirty="0"/>
              <a:t> – standardized crash safety rating.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1200" b="1" dirty="0"/>
              <a:t>Some binary Variables</a:t>
            </a:r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sz="1200" b="1" dirty="0" err="1"/>
              <a:t>is_esc</a:t>
            </a:r>
            <a:r>
              <a:rPr lang="en-US" sz="1200" b="1" dirty="0"/>
              <a:t> – Electronic Stability Control</a:t>
            </a:r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sz="1200" b="1" dirty="0" err="1"/>
              <a:t>is_tpms</a:t>
            </a:r>
            <a:r>
              <a:rPr lang="en-US" sz="1200" b="1" dirty="0"/>
              <a:t> – Tire Pressure Monitoring System</a:t>
            </a:r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sz="1200" b="1" dirty="0" err="1"/>
              <a:t>is_parking_sensors</a:t>
            </a:r>
            <a:endParaRPr lang="en-US" sz="1200" b="1" dirty="0"/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sz="1200" b="1" dirty="0" err="1"/>
              <a:t>is_parking_camera</a:t>
            </a:r>
            <a:endParaRPr lang="en-US" sz="1200" b="1" dirty="0"/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sz="1200" b="1" dirty="0" err="1"/>
              <a:t>is_front_fog_lights</a:t>
            </a:r>
            <a:endParaRPr lang="en-US" sz="1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B64C98-5A87-D47C-7975-698BF0D63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743544"/>
            <a:ext cx="5458968" cy="3370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326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C845C8-2F0D-DBCC-E703-C50309F9F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12E7CC5-C78B-4EBD-9565-3FA00FAA6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4529A5-F675-429F-8044-01372BB13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DF7537-F6F0-4F06-7282-32B0FE31B1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037" y="1298448"/>
            <a:ext cx="5895178" cy="4099642"/>
          </a:xfrm>
        </p:spPr>
        <p:txBody>
          <a:bodyPr anchor="b">
            <a:normAutofit/>
          </a:bodyPr>
          <a:lstStyle/>
          <a:p>
            <a:pPr algn="l"/>
            <a:r>
              <a:rPr lang="en-US" sz="66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Modeling Approach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C5AEF9-8534-E11E-1211-43EC5EADD3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8600" y="1122363"/>
            <a:ext cx="3505200" cy="4269549"/>
          </a:xfrm>
        </p:spPr>
        <p:txBody>
          <a:bodyPr anchor="b">
            <a:normAutofit/>
          </a:bodyPr>
          <a:lstStyle/>
          <a:p>
            <a:pPr algn="l"/>
            <a:endParaRPr lang="en-US" sz="1500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b="1" dirty="0"/>
              <a:t>Models used: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600" dirty="0"/>
              <a:t>Logistic Regression (baseline)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600" dirty="0"/>
              <a:t>LASSO &amp; Ridge (handle multicollinearity)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600" dirty="0"/>
              <a:t>Random Forest (nonlinear interactions)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b="1" dirty="0"/>
              <a:t>Evaluation metrics: </a:t>
            </a:r>
            <a:r>
              <a:rPr lang="en-US" sz="1600" dirty="0"/>
              <a:t>Accuracy, AUC, Sensitivity, Specificity, F1 Score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/>
              <a:t>Thresholds tested (0.1 to 0.9) to handle class imbalance</a:t>
            </a:r>
          </a:p>
        </p:txBody>
      </p:sp>
      <p:sp>
        <p:nvSpPr>
          <p:cNvPr id="12" name="sketch line 1">
            <a:extLst>
              <a:ext uri="{FF2B5EF4-FFF2-40B4-BE49-F238E27FC236}">
                <a16:creationId xmlns:a16="http://schemas.microsoft.com/office/drawing/2014/main" id="{32C5B66D-E390-4A14-AB60-69626CBF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562635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646273DA-F933-4D17-A5FE-B1EF87FD7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0653" y="5626353"/>
            <a:ext cx="3479619" cy="18288"/>
          </a:xfrm>
          <a:custGeom>
            <a:avLst/>
            <a:gdLst>
              <a:gd name="connsiteX0" fmla="*/ 0 w 3479619"/>
              <a:gd name="connsiteY0" fmla="*/ 0 h 18288"/>
              <a:gd name="connsiteX1" fmla="*/ 661128 w 3479619"/>
              <a:gd name="connsiteY1" fmla="*/ 0 h 18288"/>
              <a:gd name="connsiteX2" fmla="*/ 1357051 w 3479619"/>
              <a:gd name="connsiteY2" fmla="*/ 0 h 18288"/>
              <a:gd name="connsiteX3" fmla="*/ 2087771 w 3479619"/>
              <a:gd name="connsiteY3" fmla="*/ 0 h 18288"/>
              <a:gd name="connsiteX4" fmla="*/ 2818491 w 3479619"/>
              <a:gd name="connsiteY4" fmla="*/ 0 h 18288"/>
              <a:gd name="connsiteX5" fmla="*/ 3479619 w 3479619"/>
              <a:gd name="connsiteY5" fmla="*/ 0 h 18288"/>
              <a:gd name="connsiteX6" fmla="*/ 3479619 w 3479619"/>
              <a:gd name="connsiteY6" fmla="*/ 18288 h 18288"/>
              <a:gd name="connsiteX7" fmla="*/ 2714103 w 3479619"/>
              <a:gd name="connsiteY7" fmla="*/ 18288 h 18288"/>
              <a:gd name="connsiteX8" fmla="*/ 1948587 w 3479619"/>
              <a:gd name="connsiteY8" fmla="*/ 18288 h 18288"/>
              <a:gd name="connsiteX9" fmla="*/ 1252663 w 3479619"/>
              <a:gd name="connsiteY9" fmla="*/ 18288 h 18288"/>
              <a:gd name="connsiteX10" fmla="*/ 0 w 3479619"/>
              <a:gd name="connsiteY10" fmla="*/ 18288 h 18288"/>
              <a:gd name="connsiteX11" fmla="*/ 0 w 3479619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479619" h="18288" fill="none" extrusionOk="0">
                <a:moveTo>
                  <a:pt x="0" y="0"/>
                </a:moveTo>
                <a:cubicBezTo>
                  <a:pt x="178395" y="-3637"/>
                  <a:pt x="368619" y="-28254"/>
                  <a:pt x="661128" y="0"/>
                </a:cubicBezTo>
                <a:cubicBezTo>
                  <a:pt x="953637" y="28254"/>
                  <a:pt x="1022982" y="-4416"/>
                  <a:pt x="1357051" y="0"/>
                </a:cubicBezTo>
                <a:cubicBezTo>
                  <a:pt x="1691120" y="4416"/>
                  <a:pt x="1729558" y="27777"/>
                  <a:pt x="2087771" y="0"/>
                </a:cubicBezTo>
                <a:cubicBezTo>
                  <a:pt x="2445984" y="-27777"/>
                  <a:pt x="2592094" y="4429"/>
                  <a:pt x="2818491" y="0"/>
                </a:cubicBezTo>
                <a:cubicBezTo>
                  <a:pt x="3044888" y="-4429"/>
                  <a:pt x="3204567" y="26471"/>
                  <a:pt x="3479619" y="0"/>
                </a:cubicBezTo>
                <a:cubicBezTo>
                  <a:pt x="3478910" y="8157"/>
                  <a:pt x="3479206" y="12125"/>
                  <a:pt x="3479619" y="18288"/>
                </a:cubicBezTo>
                <a:cubicBezTo>
                  <a:pt x="3315855" y="-2963"/>
                  <a:pt x="3094885" y="26965"/>
                  <a:pt x="2714103" y="18288"/>
                </a:cubicBezTo>
                <a:cubicBezTo>
                  <a:pt x="2333321" y="9611"/>
                  <a:pt x="2260528" y="-15335"/>
                  <a:pt x="1948587" y="18288"/>
                </a:cubicBezTo>
                <a:cubicBezTo>
                  <a:pt x="1636646" y="51911"/>
                  <a:pt x="1489816" y="46369"/>
                  <a:pt x="1252663" y="18288"/>
                </a:cubicBezTo>
                <a:cubicBezTo>
                  <a:pt x="1015510" y="-9793"/>
                  <a:pt x="519812" y="-12177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479619" h="18288" stroke="0" extrusionOk="0">
                <a:moveTo>
                  <a:pt x="0" y="0"/>
                </a:moveTo>
                <a:cubicBezTo>
                  <a:pt x="326045" y="25020"/>
                  <a:pt x="425411" y="-17676"/>
                  <a:pt x="661128" y="0"/>
                </a:cubicBezTo>
                <a:cubicBezTo>
                  <a:pt x="896845" y="17676"/>
                  <a:pt x="1124825" y="1478"/>
                  <a:pt x="1252663" y="0"/>
                </a:cubicBezTo>
                <a:cubicBezTo>
                  <a:pt x="1380502" y="-1478"/>
                  <a:pt x="1694914" y="11788"/>
                  <a:pt x="2018179" y="0"/>
                </a:cubicBezTo>
                <a:cubicBezTo>
                  <a:pt x="2341444" y="-11788"/>
                  <a:pt x="2451167" y="12596"/>
                  <a:pt x="2679307" y="0"/>
                </a:cubicBezTo>
                <a:cubicBezTo>
                  <a:pt x="2907447" y="-12596"/>
                  <a:pt x="3094555" y="23821"/>
                  <a:pt x="3479619" y="0"/>
                </a:cubicBezTo>
                <a:cubicBezTo>
                  <a:pt x="3479355" y="4493"/>
                  <a:pt x="3480003" y="9472"/>
                  <a:pt x="3479619" y="18288"/>
                </a:cubicBezTo>
                <a:cubicBezTo>
                  <a:pt x="3311729" y="36782"/>
                  <a:pt x="3015946" y="7938"/>
                  <a:pt x="2783695" y="18288"/>
                </a:cubicBezTo>
                <a:cubicBezTo>
                  <a:pt x="2551444" y="28638"/>
                  <a:pt x="2398767" y="-13940"/>
                  <a:pt x="2018179" y="18288"/>
                </a:cubicBezTo>
                <a:cubicBezTo>
                  <a:pt x="1637591" y="50516"/>
                  <a:pt x="1634873" y="-6356"/>
                  <a:pt x="1426644" y="18288"/>
                </a:cubicBezTo>
                <a:cubicBezTo>
                  <a:pt x="1218415" y="42932"/>
                  <a:pt x="1006973" y="4094"/>
                  <a:pt x="730720" y="18288"/>
                </a:cubicBezTo>
                <a:cubicBezTo>
                  <a:pt x="454467" y="32482"/>
                  <a:pt x="291313" y="3910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587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E382AE-08E7-F2AE-24BB-7DA3C4E5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/>
              <a:t>Results &amp; Performance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AD7C7-D195-EA6F-7BC1-5E688F277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/>
              <a:t>LASSO Regression edges out the others slightly with the highest balanced accuracy (0.5229) and strong sensitivity (0.935), while having an AUC very close to the logistic regression model.</a:t>
            </a:r>
          </a:p>
          <a:p>
            <a:r>
              <a:rPr lang="en-US" sz="2200"/>
              <a:t>It also applies regularization, reducing overfitting risk — a valuable trait when working with sparse positive cases.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E458235-2DB9-533A-4504-4EB4488410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1609254"/>
              </p:ext>
            </p:extLst>
          </p:nvPr>
        </p:nvGraphicFramePr>
        <p:xfrm>
          <a:off x="6099048" y="1490446"/>
          <a:ext cx="5458970" cy="387711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550104">
                  <a:extLst>
                    <a:ext uri="{9D8B030D-6E8A-4147-A177-3AD203B41FA5}">
                      <a16:colId xmlns:a16="http://schemas.microsoft.com/office/drawing/2014/main" val="3671410888"/>
                    </a:ext>
                  </a:extLst>
                </a:gridCol>
                <a:gridCol w="1465324">
                  <a:extLst>
                    <a:ext uri="{9D8B030D-6E8A-4147-A177-3AD203B41FA5}">
                      <a16:colId xmlns:a16="http://schemas.microsoft.com/office/drawing/2014/main" val="917772194"/>
                    </a:ext>
                  </a:extLst>
                </a:gridCol>
                <a:gridCol w="1363586">
                  <a:extLst>
                    <a:ext uri="{9D8B030D-6E8A-4147-A177-3AD203B41FA5}">
                      <a16:colId xmlns:a16="http://schemas.microsoft.com/office/drawing/2014/main" val="2226630081"/>
                    </a:ext>
                  </a:extLst>
                </a:gridCol>
                <a:gridCol w="1079956">
                  <a:extLst>
                    <a:ext uri="{9D8B030D-6E8A-4147-A177-3AD203B41FA5}">
                      <a16:colId xmlns:a16="http://schemas.microsoft.com/office/drawing/2014/main" val="3608693212"/>
                    </a:ext>
                  </a:extLst>
                </a:gridCol>
              </a:tblGrid>
              <a:tr h="775422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221972" marR="133183" marT="133183" marB="133183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Sensitivity</a:t>
                      </a:r>
                    </a:p>
                  </a:txBody>
                  <a:tcPr marL="221972" marR="133183" marT="133183" marB="13318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Balanced Accuracy</a:t>
                      </a:r>
                    </a:p>
                  </a:txBody>
                  <a:tcPr marL="221972" marR="133183" marT="133183" marB="13318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 marL="221972" marR="133183" marT="133183" marB="13318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196377"/>
                  </a:ext>
                </a:extLst>
              </a:tr>
              <a:tr h="775422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Logistic Regression</a:t>
                      </a:r>
                      <a:endParaRPr lang="en-US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21972" marR="133183" marT="133183" marB="133183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0.9242</a:t>
                      </a:r>
                      <a:endParaRPr lang="en-US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21972" marR="133183" marT="133183" marB="13318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0.5209</a:t>
                      </a:r>
                      <a:endParaRPr lang="en-US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21972" marR="133183" marT="133183" marB="13318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0.6121</a:t>
                      </a:r>
                      <a:endParaRPr lang="en-US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21972" marR="133183" marT="133183" marB="13318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349152"/>
                  </a:ext>
                </a:extLst>
              </a:tr>
              <a:tr h="775422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LASSO Regression</a:t>
                      </a:r>
                    </a:p>
                  </a:txBody>
                  <a:tcPr marL="221972" marR="133183" marT="133183" marB="133183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0.9350</a:t>
                      </a:r>
                    </a:p>
                  </a:txBody>
                  <a:tcPr marL="221972" marR="133183" marT="133183" marB="13318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0.5229</a:t>
                      </a:r>
                    </a:p>
                  </a:txBody>
                  <a:tcPr marL="221972" marR="133183" marT="133183" marB="13318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0.6114</a:t>
                      </a:r>
                    </a:p>
                  </a:txBody>
                  <a:tcPr marL="221972" marR="133183" marT="133183" marB="13318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083226"/>
                  </a:ext>
                </a:extLst>
              </a:tr>
              <a:tr h="775422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Ridge Regression</a:t>
                      </a:r>
                    </a:p>
                  </a:txBody>
                  <a:tcPr marL="221972" marR="133183" marT="133183" marB="133183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0.9344</a:t>
                      </a:r>
                    </a:p>
                  </a:txBody>
                  <a:tcPr marL="221972" marR="133183" marT="133183" marB="13318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0.5213</a:t>
                      </a:r>
                    </a:p>
                  </a:txBody>
                  <a:tcPr marL="221972" marR="133183" marT="133183" marB="13318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0.6111</a:t>
                      </a:r>
                    </a:p>
                  </a:txBody>
                  <a:tcPr marL="221972" marR="133183" marT="133183" marB="13318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479475"/>
                  </a:ext>
                </a:extLst>
              </a:tr>
              <a:tr h="775422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Random Forest</a:t>
                      </a:r>
                    </a:p>
                  </a:txBody>
                  <a:tcPr marL="221972" marR="133183" marT="133183" marB="133183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0.0067</a:t>
                      </a:r>
                    </a:p>
                  </a:txBody>
                  <a:tcPr marL="221972" marR="133183" marT="133183" marB="13318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0.5013</a:t>
                      </a:r>
                    </a:p>
                  </a:txBody>
                  <a:tcPr marL="221972" marR="133183" marT="133183" marB="13318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0.5114</a:t>
                      </a:r>
                    </a:p>
                  </a:txBody>
                  <a:tcPr marL="221972" marR="133183" marT="133183" marB="13318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131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3264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2B47E7-30CB-D5D2-24F9-A515406D0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12E7CC5-C78B-4EBD-9565-3FA00FAA6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4529A5-F675-429F-8044-01372BB13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A7C794-0625-A2FF-D767-E597209771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037" y="1298448"/>
            <a:ext cx="5895178" cy="4099642"/>
          </a:xfrm>
        </p:spPr>
        <p:txBody>
          <a:bodyPr anchor="b">
            <a:normAutofit/>
          </a:bodyPr>
          <a:lstStyle/>
          <a:p>
            <a:pPr algn="l"/>
            <a:r>
              <a:rPr lang="en-US" sz="6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Conclusions &amp; Next Steps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38AC2F-9242-F4EA-61EA-206EE39BCF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8600" y="1122363"/>
            <a:ext cx="3505200" cy="4269549"/>
          </a:xfrm>
        </p:spPr>
        <p:txBody>
          <a:bodyPr anchor="b">
            <a:normAutofit fontScale="925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Threshold tuning is crucial when working with imbalanced datasets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Most models were good at identifying non-claimants but weak at detecting claimants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Model success limited by data imbalance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Future work: Boosting methods</a:t>
            </a:r>
          </a:p>
        </p:txBody>
      </p:sp>
      <p:sp>
        <p:nvSpPr>
          <p:cNvPr id="12" name="sketch line 1">
            <a:extLst>
              <a:ext uri="{FF2B5EF4-FFF2-40B4-BE49-F238E27FC236}">
                <a16:creationId xmlns:a16="http://schemas.microsoft.com/office/drawing/2014/main" id="{32C5B66D-E390-4A14-AB60-69626CBF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562635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646273DA-F933-4D17-A5FE-B1EF87FD7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0653" y="5626353"/>
            <a:ext cx="3479619" cy="18288"/>
          </a:xfrm>
          <a:custGeom>
            <a:avLst/>
            <a:gdLst>
              <a:gd name="connsiteX0" fmla="*/ 0 w 3479619"/>
              <a:gd name="connsiteY0" fmla="*/ 0 h 18288"/>
              <a:gd name="connsiteX1" fmla="*/ 661128 w 3479619"/>
              <a:gd name="connsiteY1" fmla="*/ 0 h 18288"/>
              <a:gd name="connsiteX2" fmla="*/ 1357051 w 3479619"/>
              <a:gd name="connsiteY2" fmla="*/ 0 h 18288"/>
              <a:gd name="connsiteX3" fmla="*/ 2087771 w 3479619"/>
              <a:gd name="connsiteY3" fmla="*/ 0 h 18288"/>
              <a:gd name="connsiteX4" fmla="*/ 2818491 w 3479619"/>
              <a:gd name="connsiteY4" fmla="*/ 0 h 18288"/>
              <a:gd name="connsiteX5" fmla="*/ 3479619 w 3479619"/>
              <a:gd name="connsiteY5" fmla="*/ 0 h 18288"/>
              <a:gd name="connsiteX6" fmla="*/ 3479619 w 3479619"/>
              <a:gd name="connsiteY6" fmla="*/ 18288 h 18288"/>
              <a:gd name="connsiteX7" fmla="*/ 2714103 w 3479619"/>
              <a:gd name="connsiteY7" fmla="*/ 18288 h 18288"/>
              <a:gd name="connsiteX8" fmla="*/ 1948587 w 3479619"/>
              <a:gd name="connsiteY8" fmla="*/ 18288 h 18288"/>
              <a:gd name="connsiteX9" fmla="*/ 1252663 w 3479619"/>
              <a:gd name="connsiteY9" fmla="*/ 18288 h 18288"/>
              <a:gd name="connsiteX10" fmla="*/ 0 w 3479619"/>
              <a:gd name="connsiteY10" fmla="*/ 18288 h 18288"/>
              <a:gd name="connsiteX11" fmla="*/ 0 w 3479619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479619" h="18288" fill="none" extrusionOk="0">
                <a:moveTo>
                  <a:pt x="0" y="0"/>
                </a:moveTo>
                <a:cubicBezTo>
                  <a:pt x="178395" y="-3637"/>
                  <a:pt x="368619" y="-28254"/>
                  <a:pt x="661128" y="0"/>
                </a:cubicBezTo>
                <a:cubicBezTo>
                  <a:pt x="953637" y="28254"/>
                  <a:pt x="1022982" y="-4416"/>
                  <a:pt x="1357051" y="0"/>
                </a:cubicBezTo>
                <a:cubicBezTo>
                  <a:pt x="1691120" y="4416"/>
                  <a:pt x="1729558" y="27777"/>
                  <a:pt x="2087771" y="0"/>
                </a:cubicBezTo>
                <a:cubicBezTo>
                  <a:pt x="2445984" y="-27777"/>
                  <a:pt x="2592094" y="4429"/>
                  <a:pt x="2818491" y="0"/>
                </a:cubicBezTo>
                <a:cubicBezTo>
                  <a:pt x="3044888" y="-4429"/>
                  <a:pt x="3204567" y="26471"/>
                  <a:pt x="3479619" y="0"/>
                </a:cubicBezTo>
                <a:cubicBezTo>
                  <a:pt x="3478910" y="8157"/>
                  <a:pt x="3479206" y="12125"/>
                  <a:pt x="3479619" y="18288"/>
                </a:cubicBezTo>
                <a:cubicBezTo>
                  <a:pt x="3315855" y="-2963"/>
                  <a:pt x="3094885" y="26965"/>
                  <a:pt x="2714103" y="18288"/>
                </a:cubicBezTo>
                <a:cubicBezTo>
                  <a:pt x="2333321" y="9611"/>
                  <a:pt x="2260528" y="-15335"/>
                  <a:pt x="1948587" y="18288"/>
                </a:cubicBezTo>
                <a:cubicBezTo>
                  <a:pt x="1636646" y="51911"/>
                  <a:pt x="1489816" y="46369"/>
                  <a:pt x="1252663" y="18288"/>
                </a:cubicBezTo>
                <a:cubicBezTo>
                  <a:pt x="1015510" y="-9793"/>
                  <a:pt x="519812" y="-12177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479619" h="18288" stroke="0" extrusionOk="0">
                <a:moveTo>
                  <a:pt x="0" y="0"/>
                </a:moveTo>
                <a:cubicBezTo>
                  <a:pt x="326045" y="25020"/>
                  <a:pt x="425411" y="-17676"/>
                  <a:pt x="661128" y="0"/>
                </a:cubicBezTo>
                <a:cubicBezTo>
                  <a:pt x="896845" y="17676"/>
                  <a:pt x="1124825" y="1478"/>
                  <a:pt x="1252663" y="0"/>
                </a:cubicBezTo>
                <a:cubicBezTo>
                  <a:pt x="1380502" y="-1478"/>
                  <a:pt x="1694914" y="11788"/>
                  <a:pt x="2018179" y="0"/>
                </a:cubicBezTo>
                <a:cubicBezTo>
                  <a:pt x="2341444" y="-11788"/>
                  <a:pt x="2451167" y="12596"/>
                  <a:pt x="2679307" y="0"/>
                </a:cubicBezTo>
                <a:cubicBezTo>
                  <a:pt x="2907447" y="-12596"/>
                  <a:pt x="3094555" y="23821"/>
                  <a:pt x="3479619" y="0"/>
                </a:cubicBezTo>
                <a:cubicBezTo>
                  <a:pt x="3479355" y="4493"/>
                  <a:pt x="3480003" y="9472"/>
                  <a:pt x="3479619" y="18288"/>
                </a:cubicBezTo>
                <a:cubicBezTo>
                  <a:pt x="3311729" y="36782"/>
                  <a:pt x="3015946" y="7938"/>
                  <a:pt x="2783695" y="18288"/>
                </a:cubicBezTo>
                <a:cubicBezTo>
                  <a:pt x="2551444" y="28638"/>
                  <a:pt x="2398767" y="-13940"/>
                  <a:pt x="2018179" y="18288"/>
                </a:cubicBezTo>
                <a:cubicBezTo>
                  <a:pt x="1637591" y="50516"/>
                  <a:pt x="1634873" y="-6356"/>
                  <a:pt x="1426644" y="18288"/>
                </a:cubicBezTo>
                <a:cubicBezTo>
                  <a:pt x="1218415" y="42932"/>
                  <a:pt x="1006973" y="4094"/>
                  <a:pt x="730720" y="18288"/>
                </a:cubicBezTo>
                <a:cubicBezTo>
                  <a:pt x="454467" y="32482"/>
                  <a:pt x="291313" y="3910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445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F8853A-8544-7DA3-9550-27F4472D0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A70655B-5D7F-363C-641B-15164B18A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CA6B6F1-E7FB-E46A-BE59-84409EEDB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DC1012-0F41-096B-4593-57F147D895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037" y="1298448"/>
            <a:ext cx="5895178" cy="4099642"/>
          </a:xfrm>
        </p:spPr>
        <p:txBody>
          <a:bodyPr anchor="b">
            <a:normAutofit/>
          </a:bodyPr>
          <a:lstStyle/>
          <a:p>
            <a:r>
              <a:rPr lang="en-US" sz="6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Reflection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0E0A8D-8B63-1C82-2642-FAFC75E199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8600" y="1122363"/>
            <a:ext cx="3505200" cy="4269549"/>
          </a:xfrm>
        </p:spPr>
        <p:txBody>
          <a:bodyPr anchor="b"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Biggest challenge: </a:t>
            </a:r>
            <a:r>
              <a:rPr lang="en-US" dirty="0"/>
              <a:t>Cleaning and encoding variables with many </a:t>
            </a:r>
            <a:r>
              <a:rPr lang="en-US" dirty="0" err="1"/>
              <a:t>NaN</a:t>
            </a:r>
            <a:r>
              <a:rPr lang="en-US" dirty="0"/>
              <a:t> values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Takeaway:</a:t>
            </a:r>
            <a:r>
              <a:rPr lang="en-US" dirty="0"/>
              <a:t> Class imbalance significantly affects model metrics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Next steps (if more time):</a:t>
            </a:r>
            <a:r>
              <a:rPr lang="en-US" dirty="0"/>
              <a:t> Explore </a:t>
            </a:r>
            <a:r>
              <a:rPr lang="en-US" dirty="0" err="1"/>
              <a:t>XGBoost</a:t>
            </a:r>
            <a:r>
              <a:rPr lang="en-US" dirty="0"/>
              <a:t> or SVM</a:t>
            </a:r>
          </a:p>
        </p:txBody>
      </p:sp>
      <p:sp>
        <p:nvSpPr>
          <p:cNvPr id="12" name="sketch line 1">
            <a:extLst>
              <a:ext uri="{FF2B5EF4-FFF2-40B4-BE49-F238E27FC236}">
                <a16:creationId xmlns:a16="http://schemas.microsoft.com/office/drawing/2014/main" id="{02ED7995-38A3-9D27-9F0F-1C4127C97C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562635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17972DC0-2444-11D6-DBD1-4FE7AFF3D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0653" y="5626353"/>
            <a:ext cx="3479619" cy="18288"/>
          </a:xfrm>
          <a:custGeom>
            <a:avLst/>
            <a:gdLst>
              <a:gd name="connsiteX0" fmla="*/ 0 w 3479619"/>
              <a:gd name="connsiteY0" fmla="*/ 0 h 18288"/>
              <a:gd name="connsiteX1" fmla="*/ 661128 w 3479619"/>
              <a:gd name="connsiteY1" fmla="*/ 0 h 18288"/>
              <a:gd name="connsiteX2" fmla="*/ 1357051 w 3479619"/>
              <a:gd name="connsiteY2" fmla="*/ 0 h 18288"/>
              <a:gd name="connsiteX3" fmla="*/ 2087771 w 3479619"/>
              <a:gd name="connsiteY3" fmla="*/ 0 h 18288"/>
              <a:gd name="connsiteX4" fmla="*/ 2818491 w 3479619"/>
              <a:gd name="connsiteY4" fmla="*/ 0 h 18288"/>
              <a:gd name="connsiteX5" fmla="*/ 3479619 w 3479619"/>
              <a:gd name="connsiteY5" fmla="*/ 0 h 18288"/>
              <a:gd name="connsiteX6" fmla="*/ 3479619 w 3479619"/>
              <a:gd name="connsiteY6" fmla="*/ 18288 h 18288"/>
              <a:gd name="connsiteX7" fmla="*/ 2714103 w 3479619"/>
              <a:gd name="connsiteY7" fmla="*/ 18288 h 18288"/>
              <a:gd name="connsiteX8" fmla="*/ 1948587 w 3479619"/>
              <a:gd name="connsiteY8" fmla="*/ 18288 h 18288"/>
              <a:gd name="connsiteX9" fmla="*/ 1252663 w 3479619"/>
              <a:gd name="connsiteY9" fmla="*/ 18288 h 18288"/>
              <a:gd name="connsiteX10" fmla="*/ 0 w 3479619"/>
              <a:gd name="connsiteY10" fmla="*/ 18288 h 18288"/>
              <a:gd name="connsiteX11" fmla="*/ 0 w 3479619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479619" h="18288" fill="none" extrusionOk="0">
                <a:moveTo>
                  <a:pt x="0" y="0"/>
                </a:moveTo>
                <a:cubicBezTo>
                  <a:pt x="178395" y="-3637"/>
                  <a:pt x="368619" y="-28254"/>
                  <a:pt x="661128" y="0"/>
                </a:cubicBezTo>
                <a:cubicBezTo>
                  <a:pt x="953637" y="28254"/>
                  <a:pt x="1022982" y="-4416"/>
                  <a:pt x="1357051" y="0"/>
                </a:cubicBezTo>
                <a:cubicBezTo>
                  <a:pt x="1691120" y="4416"/>
                  <a:pt x="1729558" y="27777"/>
                  <a:pt x="2087771" y="0"/>
                </a:cubicBezTo>
                <a:cubicBezTo>
                  <a:pt x="2445984" y="-27777"/>
                  <a:pt x="2592094" y="4429"/>
                  <a:pt x="2818491" y="0"/>
                </a:cubicBezTo>
                <a:cubicBezTo>
                  <a:pt x="3044888" y="-4429"/>
                  <a:pt x="3204567" y="26471"/>
                  <a:pt x="3479619" y="0"/>
                </a:cubicBezTo>
                <a:cubicBezTo>
                  <a:pt x="3478910" y="8157"/>
                  <a:pt x="3479206" y="12125"/>
                  <a:pt x="3479619" y="18288"/>
                </a:cubicBezTo>
                <a:cubicBezTo>
                  <a:pt x="3315855" y="-2963"/>
                  <a:pt x="3094885" y="26965"/>
                  <a:pt x="2714103" y="18288"/>
                </a:cubicBezTo>
                <a:cubicBezTo>
                  <a:pt x="2333321" y="9611"/>
                  <a:pt x="2260528" y="-15335"/>
                  <a:pt x="1948587" y="18288"/>
                </a:cubicBezTo>
                <a:cubicBezTo>
                  <a:pt x="1636646" y="51911"/>
                  <a:pt x="1489816" y="46369"/>
                  <a:pt x="1252663" y="18288"/>
                </a:cubicBezTo>
                <a:cubicBezTo>
                  <a:pt x="1015510" y="-9793"/>
                  <a:pt x="519812" y="-12177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479619" h="18288" stroke="0" extrusionOk="0">
                <a:moveTo>
                  <a:pt x="0" y="0"/>
                </a:moveTo>
                <a:cubicBezTo>
                  <a:pt x="326045" y="25020"/>
                  <a:pt x="425411" y="-17676"/>
                  <a:pt x="661128" y="0"/>
                </a:cubicBezTo>
                <a:cubicBezTo>
                  <a:pt x="896845" y="17676"/>
                  <a:pt x="1124825" y="1478"/>
                  <a:pt x="1252663" y="0"/>
                </a:cubicBezTo>
                <a:cubicBezTo>
                  <a:pt x="1380502" y="-1478"/>
                  <a:pt x="1694914" y="11788"/>
                  <a:pt x="2018179" y="0"/>
                </a:cubicBezTo>
                <a:cubicBezTo>
                  <a:pt x="2341444" y="-11788"/>
                  <a:pt x="2451167" y="12596"/>
                  <a:pt x="2679307" y="0"/>
                </a:cubicBezTo>
                <a:cubicBezTo>
                  <a:pt x="2907447" y="-12596"/>
                  <a:pt x="3094555" y="23821"/>
                  <a:pt x="3479619" y="0"/>
                </a:cubicBezTo>
                <a:cubicBezTo>
                  <a:pt x="3479355" y="4493"/>
                  <a:pt x="3480003" y="9472"/>
                  <a:pt x="3479619" y="18288"/>
                </a:cubicBezTo>
                <a:cubicBezTo>
                  <a:pt x="3311729" y="36782"/>
                  <a:pt x="3015946" y="7938"/>
                  <a:pt x="2783695" y="18288"/>
                </a:cubicBezTo>
                <a:cubicBezTo>
                  <a:pt x="2551444" y="28638"/>
                  <a:pt x="2398767" y="-13940"/>
                  <a:pt x="2018179" y="18288"/>
                </a:cubicBezTo>
                <a:cubicBezTo>
                  <a:pt x="1637591" y="50516"/>
                  <a:pt x="1634873" y="-6356"/>
                  <a:pt x="1426644" y="18288"/>
                </a:cubicBezTo>
                <a:cubicBezTo>
                  <a:pt x="1218415" y="42932"/>
                  <a:pt x="1006973" y="4094"/>
                  <a:pt x="730720" y="18288"/>
                </a:cubicBezTo>
                <a:cubicBezTo>
                  <a:pt x="454467" y="32482"/>
                  <a:pt x="291313" y="3910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190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9a899b5-d858-4bed-8e15-dea6c3063d1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2C875911CCD446B49DE18E698D5346" ma:contentTypeVersion="15" ma:contentTypeDescription="Create a new document." ma:contentTypeScope="" ma:versionID="4610f787f5a0cb1a0802ed97560b5302">
  <xsd:schema xmlns:xsd="http://www.w3.org/2001/XMLSchema" xmlns:xs="http://www.w3.org/2001/XMLSchema" xmlns:p="http://schemas.microsoft.com/office/2006/metadata/properties" xmlns:ns3="b9a899b5-d858-4bed-8e15-dea6c3063d1c" xmlns:ns4="e4b52ff2-3b73-4902-8ce1-e3d7533aa4da" targetNamespace="http://schemas.microsoft.com/office/2006/metadata/properties" ma:root="true" ma:fieldsID="009c0b6d51a3daebf8dc43870c550d25" ns3:_="" ns4:_="">
    <xsd:import namespace="b9a899b5-d858-4bed-8e15-dea6c3063d1c"/>
    <xsd:import namespace="e4b52ff2-3b73-4902-8ce1-e3d7533aa4d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_activity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a899b5-d858-4bed-8e15-dea6c3063d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b52ff2-3b73-4902-8ce1-e3d7533aa4d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E32B56-BE00-4706-BBFA-FFA6209AA04D}">
  <ds:schemaRefs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b9a899b5-d858-4bed-8e15-dea6c3063d1c"/>
    <ds:schemaRef ds:uri="http://schemas.microsoft.com/office/2006/metadata/properties"/>
    <ds:schemaRef ds:uri="http://schemas.microsoft.com/office/2006/documentManagement/types"/>
    <ds:schemaRef ds:uri="e4b52ff2-3b73-4902-8ce1-e3d7533aa4da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F19F706-4A2F-4AB5-98DF-DCEA081D0A1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15A7052-3EA4-473B-A265-8E7536BB4F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a899b5-d858-4bed-8e15-dea6c3063d1c"/>
    <ds:schemaRef ds:uri="e4b52ff2-3b73-4902-8ce1-e3d7533aa4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420</Words>
  <Application>Microsoft Office PowerPoint</Application>
  <PresentationFormat>Widescreen</PresentationFormat>
  <Paragraphs>70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Times New Roman</vt:lpstr>
      <vt:lpstr>Office Theme</vt:lpstr>
      <vt:lpstr>Insurance Claim Prediction</vt:lpstr>
      <vt:lpstr>Purpose</vt:lpstr>
      <vt:lpstr>Problem &amp; Data Overview</vt:lpstr>
      <vt:lpstr>EDA</vt:lpstr>
      <vt:lpstr>EDA</vt:lpstr>
      <vt:lpstr>Modeling Approach</vt:lpstr>
      <vt:lpstr>Results &amp; Performance</vt:lpstr>
      <vt:lpstr>Conclusions &amp; Next Steps</vt:lpstr>
      <vt:lpstr>Reflection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Dort, Wenslo</dc:creator>
  <cp:lastModifiedBy>Dort, Wenslo</cp:lastModifiedBy>
  <cp:revision>2</cp:revision>
  <dcterms:created xsi:type="dcterms:W3CDTF">2025-04-21T03:01:37Z</dcterms:created>
  <dcterms:modified xsi:type="dcterms:W3CDTF">2025-04-24T06:15:33Z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0x010100DF2C875911CCD446B49DE18E698D5346</vt:lpwstr>
  </property>
</Properties>
</file>